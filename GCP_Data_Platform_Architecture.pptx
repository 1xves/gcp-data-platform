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3776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3504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0"/>
            <a:ext cx="18288" cy="5143500"/>
          </a:xfrm>
          <a:prstGeom prst="rect">
            <a:avLst/>
          </a:prstGeom>
          <a:solidFill>
            <a:srgbClr val="1A2A40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Production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3152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Dataflow · Vertex AI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streaming analytics + ML serving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 500K events/sec from Pub/Sub, processing via Apache Beam,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in BigQuery, and serving sub-100ms ML predictions.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82312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  ·  Infrastructure as Code  ·  MLOps  ·  Observability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scale characteristics and design targets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3327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500K/sec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event ingestion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(Pub/Sub auto-scales)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3264408" y="103327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 p99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64408" y="1865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target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54864" cy="16459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03327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 p99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44768" y="1865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54864" cy="16459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95351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84048" y="37856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rate target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 violations)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288036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880360"/>
            <a:ext cx="54864" cy="1645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295351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TB/day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64408" y="37856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volume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throughput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88036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880360"/>
            <a:ext cx="54864" cy="1645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2953512"/>
            <a:ext cx="24688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~99.5%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144768" y="37856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freshness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(error budget: 22h/mo)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scalable and observable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1600200" cy="3931920"/>
          </a:xfrm>
          <a:prstGeom prst="rect">
            <a:avLst/>
          </a:prstGeom>
          <a:solidFill>
            <a:srgbClr val="1B2A4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914400"/>
            <a:ext cx="16002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097280"/>
            <a:ext cx="594360" cy="34747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Pub/Sub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 Schema Registry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routing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880360"/>
            <a:ext cx="155448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1938528" y="914400"/>
            <a:ext cx="1600200" cy="393192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914400"/>
            <a:ext cx="1600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1448" y="1097280"/>
            <a:ext cx="594360" cy="34747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2441448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1168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38728" y="2880360"/>
            <a:ext cx="155448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25" name="Shape 23"/>
          <p:cNvSpPr/>
          <p:nvPr/>
        </p:nvSpPr>
        <p:spPr>
          <a:xfrm>
            <a:off x="3694176" y="914400"/>
            <a:ext cx="1600200" cy="393192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914400"/>
            <a:ext cx="16002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7" name="Shape 25"/>
          <p:cNvSpPr/>
          <p:nvPr/>
        </p:nvSpPr>
        <p:spPr>
          <a:xfrm>
            <a:off x="4197096" y="1097280"/>
            <a:ext cx="594360" cy="34747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8" name="Text 26"/>
          <p:cNvSpPr/>
          <p:nvPr/>
        </p:nvSpPr>
        <p:spPr>
          <a:xfrm>
            <a:off x="4197096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67328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67328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67328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+ Clustered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67328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design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94376" y="2880360"/>
            <a:ext cx="155448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5449824" y="914400"/>
            <a:ext cx="1600200" cy="3931920"/>
          </a:xfrm>
          <a:prstGeom prst="rect">
            <a:avLst/>
          </a:prstGeom>
          <a:solidFill>
            <a:srgbClr val="1B2A4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9824" y="914400"/>
            <a:ext cx="16002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6" name="Shape 34"/>
          <p:cNvSpPr/>
          <p:nvPr/>
        </p:nvSpPr>
        <p:spPr>
          <a:xfrm>
            <a:off x="5952744" y="1097280"/>
            <a:ext cx="594360" cy="34747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7" name="Text 35"/>
          <p:cNvSpPr/>
          <p:nvPr/>
        </p:nvSpPr>
        <p:spPr>
          <a:xfrm>
            <a:off x="5952744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22976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22976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22976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Pipelines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22976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0024" y="2880360"/>
            <a:ext cx="155448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  <a:tailEnd type="open"/>
          </a:ln>
        </p:spPr>
      </p:sp>
      <p:sp>
        <p:nvSpPr>
          <p:cNvPr id="43" name="Shape 41"/>
          <p:cNvSpPr/>
          <p:nvPr/>
        </p:nvSpPr>
        <p:spPr>
          <a:xfrm>
            <a:off x="7205472" y="914400"/>
            <a:ext cx="1600200" cy="3931920"/>
          </a:xfrm>
          <a:prstGeom prst="rect">
            <a:avLst/>
          </a:prstGeom>
          <a:solidFill>
            <a:srgbClr val="1B2A4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5472" y="914400"/>
            <a:ext cx="1600200" cy="5486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5" name="Shape 43"/>
          <p:cNvSpPr/>
          <p:nvPr/>
        </p:nvSpPr>
        <p:spPr>
          <a:xfrm>
            <a:off x="7708392" y="1097280"/>
            <a:ext cx="594360" cy="34747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6" name="Text 44"/>
          <p:cNvSpPr/>
          <p:nvPr/>
        </p:nvSpPr>
        <p:spPr>
          <a:xfrm>
            <a:off x="7708392" y="10972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278624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278624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78624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SLOs + Error Budgets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78624" y="2706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policies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Event Ingestion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Pub/Sub · Avro Schema Registry · Dead-Letter Queue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01168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5F63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1498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271016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Web · Microservices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Avro-encoded events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371600"/>
            <a:ext cx="18288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2395728" y="960120"/>
            <a:ext cx="21031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149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events-topic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27101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keys · 7-day retention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1371600"/>
            <a:ext cx="18288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4681728" y="960120"/>
            <a:ext cx="219456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1498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events-dataflow-sub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27101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delivery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retry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76288" y="1371600"/>
            <a:ext cx="18288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open"/>
          </a:ln>
        </p:spPr>
      </p:sp>
      <p:sp>
        <p:nvSpPr>
          <p:cNvPr id="19" name="Shape 17"/>
          <p:cNvSpPr/>
          <p:nvPr/>
        </p:nvSpPr>
        <p:spPr>
          <a:xfrm>
            <a:off x="7059168" y="960120"/>
            <a:ext cx="182880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0149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12710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BigQuery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47288" y="1783080"/>
            <a:ext cx="0" cy="594360"/>
          </a:xfrm>
          <a:prstGeom prst="line">
            <a:avLst/>
          </a:prstGeom>
          <a:noFill/>
          <a:ln w="19050">
            <a:solidFill>
              <a:srgbClr val="EA433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395728" y="2377440"/>
            <a:ext cx="2103120" cy="685800"/>
          </a:xfrm>
          <a:prstGeom prst="rect">
            <a:avLst/>
          </a:prstGeom>
          <a:solidFill>
            <a:srgbClr val="1B2A4A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43230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events-dlq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2688336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failures → auto-routed 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&gt;100 msgs in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8778240" cy="1600200"/>
          </a:xfrm>
          <a:prstGeom prst="rect">
            <a:avLst/>
          </a:prstGeom>
          <a:solidFill>
            <a:srgbClr val="0F20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84448"/>
            <a:ext cx="10972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over Kafka: no broker management, native Dataflow integration, usage-based cost (no idle cluster)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04488"/>
            <a:ext cx="10972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867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 schema registry: binary encoding is 70% smaller than JSON; schema validation on publish blocks malformed events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10972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87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ordering_key=user_id: guarantees per-user event ordering without global partition management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44568"/>
            <a:ext cx="109728" cy="10972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07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enable_exactly_once_delivery=true: combined with Dataflow Streaming Engine — zero duplicate writes to BigQuery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Dataflow Stream 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Beam · Stateful Deduplication · Exactly-Once BigQuery Writes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192024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60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Avro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31673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fastavro decode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 check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417320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2286000" y="1005840"/>
            <a:ext cx="192024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060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59152" y="131673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bounds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1417320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4389120" y="1005840"/>
            <a:ext cx="192024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060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(Stateful)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131673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BagState per 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GC timer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192024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06070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1316736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side 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typed props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1417320"/>
            <a:ext cx="0" cy="77724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194560"/>
            <a:ext cx="2103120" cy="731520"/>
          </a:xfrm>
          <a:prstGeom prst="rect">
            <a:avLst/>
          </a:prstGeom>
          <a:solidFill>
            <a:srgbClr val="1B2A4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22494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raw_events BQ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31152" y="250545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sink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FILE_LOADS 30s trigger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3017520"/>
            <a:ext cx="2103120" cy="73152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07238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332841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 tumbling window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CombinePerKey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2194560"/>
            <a:ext cx="2103120" cy="731520"/>
          </a:xfrm>
          <a:prstGeom prst="rect">
            <a:avLst/>
          </a:prstGeom>
          <a:solidFill>
            <a:srgbClr val="1B2A4A"/>
          </a:solidFill>
          <a:ln w="19050">
            <a:solidFill>
              <a:srgbClr val="EA43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24942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Topic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" y="250545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Parse/validate failures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7 days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43000" y="1828800"/>
            <a:ext cx="0" cy="365760"/>
          </a:xfrm>
          <a:prstGeom prst="line">
            <a:avLst/>
          </a:prstGeom>
          <a:noFill/>
          <a:ln w="12700">
            <a:solidFill>
              <a:srgbClr val="EA433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82880" y="3886200"/>
            <a:ext cx="877824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200 workers in 60s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6032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window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BagState per user_id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Lateness tolerance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for aggregates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4944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Streaming Engine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BigQuery Analytics Data Layer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Design · Partition + Cluster Strategy · 99.5% Cost Reduction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877824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05840"/>
            <a:ext cx="73152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raw_events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90-day expiry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Partition: event_date · Cluster: event_type, user_id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require_partition_filter = TRUE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240280"/>
            <a:ext cx="877824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2240280"/>
            <a:ext cx="73152" cy="10515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13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processed_events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5877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+ enriched · Indefinite retention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Partition: event_date · Cluster: user_id, event_type, country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view: PII excluded for analysts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474720"/>
            <a:ext cx="8778240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3474720"/>
            <a:ext cx="73152" cy="105156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ml_features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8221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view: daily user feature 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hourly · Source for Feature Store ingestion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prediction_logs: model drift monitoring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4663440"/>
            <a:ext cx="8778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690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impact: No partition filter → 43 TB scanned = $215/query.  With partition + cluster → ~200 GB = $1/query.  99.5% cost reduction.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Vertex AI ML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· Training Pipeline · Online Serving · Zero Training-Serving Skew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14300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978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4538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mv_user_features_daily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snapshot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463040"/>
            <a:ext cx="18288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2194560" y="114300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7712" y="11978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67712" y="14538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ingestion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correct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1463040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4206240" y="114300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11978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79392" y="14538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182880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6217920" y="114300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1978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4538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lineage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" y="1920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PATH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14884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5F63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" y="245973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user_ids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pre-fetched features)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0" y="2468880"/>
            <a:ext cx="18288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2194560" y="214884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6771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(Online)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67712" y="245973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 lookup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 as training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23360" y="2468880"/>
            <a:ext cx="182880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4206240" y="214884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79392" y="245973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468880"/>
            <a:ext cx="182880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6217920" y="2148840"/>
            <a:ext cx="1828800" cy="640080"/>
          </a:xfrm>
          <a:prstGeom prst="rect">
            <a:avLst/>
          </a:prstGeom>
          <a:solidFill>
            <a:srgbClr val="1B2A4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20370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Logs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91072" y="245973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→ BQ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2926080"/>
            <a:ext cx="8778240" cy="1463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990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 — Safe Rollout Strategy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291840"/>
            <a:ext cx="91440" cy="109728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Shadow: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11680" y="327355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→ v1 (production) · 0% → v2 (shadow, log-only, 48h evaluation)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547872"/>
            <a:ext cx="91440" cy="109728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5" name="Text 43"/>
          <p:cNvSpPr/>
          <p:nvPr/>
        </p:nvSpPr>
        <p:spPr>
          <a:xfrm>
            <a:off x="530352" y="3529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Canary: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35295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→ v1 · 10% → v2 (canary, 72h monitoring window)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803904"/>
            <a:ext cx="91440" cy="109728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785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Promote: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11680" y="378561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→ v2 (full promotion after canary gate passes)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4059936"/>
            <a:ext cx="91440" cy="10972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1" name="Text 49"/>
          <p:cNvSpPr/>
          <p:nvPr/>
        </p:nvSpPr>
        <p:spPr>
          <a:xfrm>
            <a:off x="530352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Trigger: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011680" y="40416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&gt; 150ms OR error rate &gt; 0.5% OR accuracy drop &gt; 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Observability &amp; SLOs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· SLO Error Budgets · 6 Alert Policies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206240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05840"/>
            <a:ext cx="4206240" cy="45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Freshness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pipeline lag &lt; 30s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21.9h/mo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alert: 14.4× → immediate page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4206240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1005840"/>
            <a:ext cx="420624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389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serving &lt; 100ms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43.8min/mo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alert: 14.4× → immediate page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514600"/>
            <a:ext cx="4206240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" y="2514600"/>
            <a:ext cx="4206240" cy="457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2898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 events to DLQ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99.9%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43.8min/mo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alert: 14.4× → immediate page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514600"/>
            <a:ext cx="4206240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17720" y="2514600"/>
            <a:ext cx="420624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Success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898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pipeline pass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95.0%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1.5 runs/mo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alert: 14.4× → immediate page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4069080"/>
            <a:ext cx="8778240" cy="6400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Alert Policies: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315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DLQ Spike (&gt;100 msgs)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4315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 Lag (&gt;5 min)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4315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Worker Error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BQ Slot &gt;90%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Serving P99 &gt;100ms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Serving Error &gt;0.5%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Decision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was evaluated against production constraints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77824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Chosen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941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941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Selection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225296"/>
            <a:ext cx="8778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Pub/Sub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(Confluent)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2618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ops, native Dataflow, usage-based cost (no idle cluster)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728216"/>
            <a:ext cx="877824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7647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Beam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17647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17647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semantics, unified batch+stream, Python SDK for ML team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231136"/>
            <a:ext cx="8778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267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22677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/ GKE Flink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2677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(30s response), Flex Templates, no cluster management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734056"/>
            <a:ext cx="877824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770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2770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/ Snowflake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7706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ML integration, Vertex AI direct read, serverless columnar store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3236976"/>
            <a:ext cx="8778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273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Feature Store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273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Feast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32735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training-serving skew structurally; managed online+offline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739896"/>
            <a:ext cx="8778240" cy="47548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7764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37764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3776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wins, SHAP explainability, &lt;4h training, interpretable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4242816"/>
            <a:ext cx="8778240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2793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17520" y="42793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Manager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2793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portable, modular, PR-gated plan, large community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· State-managed · PR-gated deployment with GitHub 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1005840"/>
            <a:ext cx="54864" cy="777240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78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modules/networking/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353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Private subnet · Cloud NAT · Firewall rules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005840"/>
            <a:ext cx="54864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789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modules/iam/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 accounts · Least-privilege role bindings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96596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196596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modules/pubsub/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events-topic · events-dlq · dataflow-sub · DLQ-sub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96596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1965960"/>
            <a:ext cx="54864" cy="7772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39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modules/dataflow/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313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Template job · staging GCS · auto-scaling config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" y="2926080"/>
            <a:ext cx="54864" cy="7772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modules/bigquery/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· 5 tables · slot reservation · authorized views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92608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17720" y="2926080"/>
            <a:ext cx="54864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modules/vertex_ai/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· Artifact Registry · Online endpoint · Pipeline schedule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886200"/>
            <a:ext cx="420624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3886200"/>
            <a:ext cx="54864" cy="7772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3959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modules/monitoring/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alert policies · 4 SLO definitions · notification channels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3977640"/>
            <a:ext cx="8778240" cy="4114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terraform plan on every PR · terraform apply on merge to main · GitHub Actions environment with manual approval gate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Implementation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delivery with measurable milestones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Data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87782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" y="960120"/>
            <a:ext cx="54864" cy="6858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143000"/>
            <a:ext cx="59436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143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051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Pub/Sub topics + DLQ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Avro schema registry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Terraform IAM + networking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764792"/>
            <a:ext cx="87782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1764792"/>
            <a:ext cx="54864" cy="6858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274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1856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Beam pipeline (parse+validate)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4920" y="1856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Stateful deduplication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0" y="18562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Dataflow Flex Template deploy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569464"/>
            <a:ext cx="87782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" y="2569464"/>
            <a:ext cx="54864" cy="6858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2752344"/>
            <a:ext cx="594360" cy="27432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27523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W6–7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26609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2660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BigQuery 3-layer schemas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660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Authorized views + MV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6609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quality checks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374136"/>
            <a:ext cx="87782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3374136"/>
            <a:ext cx="54864" cy="6858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557016"/>
            <a:ext cx="594360" cy="2743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5570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W8–11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" y="3465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ML Platform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Store ingestion job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4920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Vertex AI training pipeline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34655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Online endpoint + canary routing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4178808"/>
            <a:ext cx="877824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" y="4178808"/>
            <a:ext cx="54864" cy="6858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4361688"/>
            <a:ext cx="594360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3616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Observability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0" y="4270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SLO definitions + error budgets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74920" y="4270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 alert policies → PagerDuty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4270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Runbooks + postmortem template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platform production-grade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82296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6583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Guarantees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2161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exactly-once delivery + Dataflow Streaming Engine + BigQuery FILE_LOADS. Zero duplicate writes, structurally enforced.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8229600" cy="65836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938528"/>
            <a:ext cx="54864" cy="6583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Training-Serving Skew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 computation path via Vertex AI Feature Store. Training (offline) and serving (online) read the same features — skew is impossible.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82296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88336"/>
            <a:ext cx="54864" cy="6583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61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Architecture by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7157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require_partition_filter on all BQ tables. 99.5% cost reduction vs. full-table scans. Slot reservations cap runaway queries.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438144"/>
            <a:ext cx="8229600" cy="65836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438144"/>
            <a:ext cx="54864" cy="6583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ML Deployments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46557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traffic → canary → promotion gate. Rollback in one API call. Prediction logs power automatic drift detection.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82296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87952"/>
            <a:ext cx="54864" cy="65836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21538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managed in Terraform. PR-gated plan + manual approval gate for production. Reproducible across environments.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GCP Production Data Platform</dc:title>
  <dc:subject>PptxGenJS Presentation</dc:subject>
  <dc:creator>Ves Mobley</dc:creator>
  <cp:lastModifiedBy>Ves Mobley</cp:lastModifiedBy>
  <cp:revision>1</cp:revision>
  <dcterms:created xsi:type="dcterms:W3CDTF">2026-04-22T05:11:30Z</dcterms:created>
  <dcterms:modified xsi:type="dcterms:W3CDTF">2026-04-22T05:11:30Z</dcterms:modified>
</cp:coreProperties>
</file>